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Platforma SaaS do zarządzania infrastrukturą VPN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Wprowadzenie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Temat pracy</a:t>
            </a:r>
          </a:p>
          <a:p>
            <a:pPr lvl="1"/>
            <a:r>
              <a:t>**Projekt i implementacja platformy SaaS do zarządzania infrastrukturą VPN z naciskiem na prywatność użytkowników**</a:t>
            </a:r>
          </a:p>
          <a:p>
            <a:pPr>
              <a:defRPr b="1"/>
            </a:pPr>
            <a:r>
              <a:t>Cel pracy</a:t>
            </a:r>
          </a:p>
          <a:p>
            <a:pPr lvl="1"/>
            <a:r>
              <a:t>Zaprojektowanie i realizacja kompletnego systemu VPN typu SaaS</a:t>
            </a:r>
          </a:p>
          <a:p>
            <a:pPr lvl="1"/>
            <a:r>
              <a:t>Centralne zarządzanie flotą serwerów VPN rozproszonych geograficznie</a:t>
            </a:r>
          </a:p>
          <a:p>
            <a:pPr lvl="1"/>
            <a:r>
              <a:t>Ochrona prywatności użytkowników (brak logowania ruchu, minimalizacja metadanych)</a:t>
            </a:r>
          </a:p>
          <a:p>
            <a:pPr lvl="1"/>
            <a:r>
              <a:t>Wsparcie wielu protokołów VPN (WireGuard, OpenVPN, IKEv2)</a:t>
            </a:r>
          </a:p>
          <a:p>
            <a:pPr>
              <a:defRPr b="1"/>
            </a:pPr>
            <a:r>
              <a:t>Motywacja</a:t>
            </a:r>
          </a:p>
          <a:p>
            <a:pPr lvl="1"/>
            <a:r>
              <a:t>Rosnące znaczenie prywatności w sieci (RODO, inwigilacja, blokady geograficzne)</a:t>
            </a:r>
          </a:p>
          <a:p>
            <a:pPr lvl="1"/>
            <a:r>
              <a:t>Popularność usług VPN i modeli subskrypcyjnych (rynek VPN: $45 mld do 2027)</a:t>
            </a:r>
          </a:p>
          <a:p>
            <a:pPr lvl="1"/>
            <a:r>
              <a:t>Potrzeba rozwiązań typu „privacy-first" z weryfikowalnym przepływem danych</a:t>
            </a:r>
          </a:p>
          <a:p>
            <a:pPr lvl="1"/>
            <a:r>
              <a:t>Brak otwartych, kompletnych implementacji SaaS VPN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Architektura systemu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4 główne komponenty</a:t>
            </a:r>
          </a:p>
          <a:p>
            <a:pPr lvl="1"/>
            <a:r>
              <a:t>┌─────────────────┐     ┌───────────────────┐     ┌─────────────────┐</a:t>
            </a:r>
          </a:p>
          <a:p>
            <a:pPr lvl="1"/>
            <a:r>
              <a:t>│    Frontend     │────▶│   Control Plane   │◀────│   VPN Server    │</a:t>
            </a:r>
          </a:p>
          <a:p>
            <a:pPr lvl="1"/>
            <a:r>
              <a:t>│   (Next.js)     │     │ (Lambda+Postgres) │     │     (Rust)      │</a:t>
            </a:r>
          </a:p>
          <a:p>
            <a:pPr lvl="1"/>
            <a:r>
              <a:t>│   Vercel        │     │   AWS Serverless  │     │   EC2 + EIP     │</a:t>
            </a:r>
          </a:p>
          <a:p>
            <a:pPr lvl="1"/>
            <a:r>
              <a:t>└─────────────────┘     └───────────────────┘     └─────────────────┘</a:t>
            </a:r>
          </a:p>
          <a:p>
            <a:pPr lvl="1"/>
            <a:r>
              <a:t>▲                        ▲                        ▲</a:t>
            </a:r>
          </a:p>
          <a:p>
            <a:pPr lvl="1"/>
            <a:r>
              <a:t>│ HTTPS                  │ HTTPS                  │ UDP/TCP</a:t>
            </a:r>
          </a:p>
          <a:p>
            <a:pPr lvl="1"/>
            <a:r>
              <a:t>▼                        │                        ▼</a:t>
            </a:r>
          </a:p>
          <a:p>
            <a:pPr lvl="1"/>
            <a:r>
              <a:t>┌─────────────────┐              │              ┌─────────────────┐</a:t>
            </a:r>
          </a:p>
          <a:p>
            <a:pPr lvl="1"/>
            <a:r>
              <a:t>│  Desktop Client │──────────────┘              │   Użytkownicy   │</a:t>
            </a:r>
          </a:p>
          <a:p>
            <a:pPr lvl="1"/>
            <a:r>
              <a:t>│  (Tauri+Daemon) │                             │   końcowi       │</a:t>
            </a:r>
          </a:p>
          <a:p>
            <a:pPr lvl="1"/>
            <a:r>
              <a:t>└─────────────────┘                             └─────────────────┘</a:t>
            </a:r>
          </a:p>
          <a:p>
            <a:pPr>
              <a:defRPr sz="1200"/>
            </a:pPr>
            <a:r>
              <a:t>| Komponent          | Technologia        | Rola                                       |</a:t>
            </a:r>
          </a:p>
          <a:p>
            <a:pPr>
              <a:defRPr sz="1200"/>
            </a:pPr>
            <a:r>
              <a:t>| ------------------ | ------------------ | ------------------------------------------ |</a:t>
            </a:r>
          </a:p>
          <a:p>
            <a:pPr>
              <a:defRPr sz="1200"/>
            </a:pPr>
            <a:r>
              <a:t>| **Frontend**       | Next.js 15, Vercel | Panel użytkownika, admin, płatności Stripe |</a:t>
            </a:r>
          </a:p>
          <a:p>
            <a:pPr>
              <a:defRPr sz="1200"/>
            </a:pPr>
            <a:r>
              <a:t>| **Control Plane**  | Lambda, PostgreSQL | API REST, zarządzanie stanem, autentykacja |</a:t>
            </a:r>
          </a:p>
          <a:p>
            <a:pPr>
              <a:defRPr sz="1200"/>
            </a:pPr>
            <a:r>
              <a:t>| **VPN Server**     | Rust, EC2          | Tunele VPN, synchronizacja peerów          |</a:t>
            </a:r>
          </a:p>
          <a:p>
            <a:pPr>
              <a:defRPr sz="1200"/>
            </a:pPr>
            <a:r>
              <a:t>| **Desktop Client** | Tauri, Rust Daemon | Aplikacja kliencka, połączenia VPN        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Wykorzystane technologie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Frontend (apps/web)</a:t>
            </a:r>
          </a:p>
          <a:p>
            <a:pPr lvl="1"/>
            <a:r>
              <a:t>**Next.js 15** – App Router, Server Components, SSR/ISR, SEO-friendly</a:t>
            </a:r>
          </a:p>
          <a:p>
            <a:pPr lvl="1"/>
            <a:r>
              <a:t>**TypeScript** – typowanie statyczne, lepsza jakość kodu</a:t>
            </a:r>
          </a:p>
          <a:p>
            <a:pPr lvl="1"/>
            <a:r>
              <a:t>**Prisma + PostgreSQL** – ORM z type-safe queries, migracje</a:t>
            </a:r>
          </a:p>
          <a:p>
            <a:pPr lvl="1"/>
            <a:r>
              <a:t>**NextAuth.js** – autoryzacja OAuth (GitHub, Google) + magic link email</a:t>
            </a:r>
          </a:p>
          <a:p>
            <a:pPr lvl="1"/>
            <a:r>
              <a:t>**Stripe** – subskrypcje, Checkout, Customer Portal, webhooki</a:t>
            </a:r>
          </a:p>
          <a:p>
            <a:pPr lvl="1"/>
            <a:r>
              <a:t>**tRPC** – type-safe API między frontendem a backendem</a:t>
            </a:r>
          </a:p>
          <a:p>
            <a:pPr lvl="1"/>
            <a:r>
              <a:t>**Wdrożenie:** Vercel (edge functions, CDN, automatyczne HTTPS)</a:t>
            </a:r>
          </a:p>
          <a:p>
            <a:pPr lvl="1"/>
            <a:r>
              <a:t>## Control Plane (services/control-plane)</a:t>
            </a:r>
          </a:p>
          <a:p>
            <a:pPr lvl="1"/>
            <a:r>
              <a:t>**Bun** – szybszy runtime niż Node.js (3x startup, natywny TS)</a:t>
            </a:r>
          </a:p>
          <a:p>
            <a:pPr lvl="1"/>
            <a:r>
              <a:t>**Fastify** – wydajny framework HTTP (~77k req/s)</a:t>
            </a:r>
          </a:p>
          <a:p>
            <a:pPr lvl="1"/>
            <a:r>
              <a:t>**AWS Lambda** – serverless, płatność za użycie, auto-skalowanie</a:t>
            </a:r>
          </a:p>
          <a:p>
            <a:pPr lvl="1"/>
            <a:r>
              <a:t>**Docker on Lambda** – obrazy ECR, pełna kontrola środowiska</a:t>
            </a:r>
          </a:p>
          <a:p>
            <a:pPr lvl="1"/>
            <a:r>
              <a:t>**PostgreSQL/Neon** – managed serverless Postgres, branching</a:t>
            </a:r>
          </a:p>
          <a:p>
            <a:pPr lvl="1"/>
            <a:r>
              <a:t>**Pulumi** – Infrastructure as Code w TypeScript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Wykorzystane technologie (cd.)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VPN Server (apps/vpn-server)</a:t>
            </a:r>
          </a:p>
          <a:p>
            <a:pPr lvl="1"/>
            <a:r>
              <a:t>**Rust** – bezpieczeństwo pamięci (brak null, brak data races), wydajność C/C++</a:t>
            </a:r>
          </a:p>
          <a:p>
            <a:pPr lvl="1"/>
            <a:r>
              <a:t>**WireGuard** – nowoczesny protokół, ~4000 linii kodu, ChaCha20-Poly1305</a:t>
            </a:r>
          </a:p>
          <a:p>
            <a:pPr lvl="1"/>
            <a:r>
              <a:t>**OpenVPN** – dojrzały protokół (20+ lat), TLS, szeroka kompatybilność</a:t>
            </a:r>
          </a:p>
          <a:p>
            <a:pPr lvl="1"/>
            <a:r>
              <a:t>**IKEv2/IPsec** – natywne wsparcie w Windows/macOS/iOS/Android, MOBIKE</a:t>
            </a:r>
          </a:p>
          <a:p>
            <a:pPr lvl="1"/>
            <a:r>
              <a:t>**Tokio** – asynchroniczny runtime (epoll/kqueue), zero-cost abstractions</a:t>
            </a:r>
          </a:p>
          <a:p>
            <a:pPr lvl="1"/>
            <a:r>
              <a:t>**Axum** – framework HTTP zbudowany na Tower, middleware, routing</a:t>
            </a:r>
          </a:p>
          <a:p>
            <a:pPr lvl="1"/>
            <a:r>
              <a:t>**Wdrożenie:** EC2 z Elastic IP (stałe adresy publiczne), 10 regionów</a:t>
            </a:r>
          </a:p>
          <a:p>
            <a:pPr lvl="1"/>
            <a:r>
              <a:t>## Desktop Client (apps/desktop)</a:t>
            </a:r>
          </a:p>
          <a:p>
            <a:pPr lvl="1"/>
            <a:r>
              <a:t>**Tauri** – lekki (5MB vs 150MB Electron), natywny webview, Rust backend</a:t>
            </a:r>
          </a:p>
          <a:p>
            <a:pPr lvl="1"/>
            <a:r>
              <a:t>**React + Vite** – szybki HMR, ESM, optymalizacja produkcyjna</a:t>
            </a:r>
          </a:p>
          <a:p>
            <a:pPr lvl="1"/>
            <a:r>
              <a:t>**Daemon Rust** – uprzywilejowany proces z prawami root/admin</a:t>
            </a:r>
          </a:p>
          <a:p>
            <a:pPr lvl="1"/>
            <a:r>
              <a:t>**IPC (Unix Socket/Named Pipe)** – komunikacja GUI ↔ Daemon, JSON-RPC</a:t>
            </a:r>
          </a:p>
          <a:p>
            <a:pPr lvl="1"/>
            <a:r>
              <a:t>**Platformy:** macOS (x64/ARM), Linux (deb/rpm/AppImage), Windows (MSI/NSIS)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zostało zrealizowane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✅ Frontend (95%)</a:t>
            </a:r>
          </a:p>
          <a:p>
            <a:pPr lvl="1"/>
            <a:r>
              <a:t>Pełny SaaS z rejestracją, logowaniem (OAuth + email magic link)</a:t>
            </a:r>
          </a:p>
          <a:p>
            <a:pPr lvl="1"/>
            <a:r>
              <a:t>Integracja ze Stripe: 3 plany (Basic, Pro, Enterprise), webhooki, portal</a:t>
            </a:r>
          </a:p>
          <a:p>
            <a:pPr lvl="1"/>
            <a:r>
              <a:t>Panel użytkownika: zarządzanie urządzeniami, generowanie konfiguracji VPN/QR</a:t>
            </a:r>
          </a:p>
          <a:p>
            <a:pPr lvl="1"/>
            <a:r>
              <a:t>Panel administratora: zarządzanie serwerami, tokenami, użytkownikami</a:t>
            </a:r>
          </a:p>
          <a:p>
            <a:pPr lvl="1"/>
            <a:r>
              <a:t>Dashboard z metrykami w czasie rzeczywistym (połączenia, transfer, regiony)</a:t>
            </a:r>
          </a:p>
          <a:p>
            <a:pPr lvl="1"/>
            <a:r>
              <a:t>## ✅ Control Plane (100%)</a:t>
            </a:r>
          </a:p>
          <a:p>
            <a:pPr lvl="1"/>
            <a:r>
              <a:t>Kompletne API: `/server/register`, `/server/peers`, `/peers`, `/tokens`, `/servers`</a:t>
            </a:r>
          </a:p>
          <a:p>
            <a:pPr lvl="1"/>
            <a:r>
              <a:t>Autentykacja: Bearer token dla węzłów VPN, API key dla web app</a:t>
            </a:r>
          </a:p>
          <a:p>
            <a:pPr lvl="1"/>
            <a:r>
              <a:t>Rate limiting: per-IP i per-token, ochrona przed nadużyciami</a:t>
            </a:r>
          </a:p>
          <a:p>
            <a:pPr lvl="1"/>
            <a:r>
              <a:t>Wdrożenie: AWS Lambda z Docker, API Gateway, auto-deploy via GitHub Actions</a:t>
            </a:r>
          </a:p>
          <a:p>
            <a:pPr lvl="1"/>
            <a:r>
              <a:t>## ✅ VPN Server (90%)</a:t>
            </a:r>
          </a:p>
          <a:p>
            <a:pPr lvl="1"/>
            <a:r>
              <a:t>Rejestracja w control plane, cykliczna synchronizacja peerów (30s)</a:t>
            </a:r>
          </a:p>
          <a:p>
            <a:pPr lvl="1"/>
            <a:r>
              <a:t>Trzy backendy: WireGuard (wg-quick), OpenVPN (server mode), IKEv2 (strongSwan)</a:t>
            </a:r>
          </a:p>
          <a:p>
            <a:pPr lvl="1"/>
            <a:r>
              <a:t>Admin API: `/health`, `/metrics`, `/status`, `/pubkey`</a:t>
            </a:r>
          </a:p>
          <a:p>
            <a:pPr lvl="1"/>
            <a:r>
              <a:t>Metryki: aktywne sesje, transfer, czas działania (Prometheus format)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zostało zrealizowane (cd.)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✅ Desktop Client (85%)</a:t>
            </a:r>
          </a:p>
          <a:p>
            <a:pPr lvl="1"/>
            <a:r>
              <a:t>Architektura z separacją uprawnień: GUI (nieprzywil.) + Daemon (root)</a:t>
            </a:r>
          </a:p>
          <a:p>
            <a:pPr lvl="1"/>
            <a:r>
              <a:t>Obsługa trzech protokołów VPN z automatycznym wyborem najlepszego serwera</a:t>
            </a:r>
          </a:p>
          <a:p>
            <a:pPr lvl="1"/>
            <a:r>
              <a:t>IPC przez Unix socket (prod: /var/run/, dev: /tmp/)</a:t>
            </a:r>
          </a:p>
          <a:p>
            <a:pPr lvl="1"/>
            <a:r>
              <a:t>Buildy automatyczne: macOS DMG, Linux deb/rpm/AppImage, Windows MSI</a:t>
            </a:r>
          </a:p>
          <a:p>
            <a:pPr lvl="1"/>
            <a:r>
              <a:t>## ✅ Infrastruktura (Pulumi 100%)</a:t>
            </a:r>
          </a:p>
          <a:p>
            <a:pPr lvl="1"/>
            <a:r>
              <a:t>**Global stack:** Lambda (control-plane, metrics), ECR, S3, API Gateway</a:t>
            </a:r>
          </a:p>
          <a:p>
            <a:pPr lvl="1"/>
            <a:r>
              <a:t>**Regional stacks:** EC2 z Elastic IP, VPC, Security Groups</a:t>
            </a:r>
          </a:p>
          <a:p>
            <a:pPr lvl="1"/>
            <a:r>
              <a:t>10 regionów AWS: us-east-1, us-west-2, eu-west-1, eu-central-1, ap-northeast-1...</a:t>
            </a:r>
          </a:p>
          <a:p>
            <a:pPr lvl="1"/>
            <a:r>
              <a:t>Observability: Amazon Managed Prometheus, Grafana dashboards</a:t>
            </a:r>
          </a:p>
          <a:p>
            <a:pPr lvl="1"/>
            <a:r>
              <a:t>## ✅ CI/CD (GitHub Actions)</a:t>
            </a:r>
          </a:p>
          <a:p>
            <a:pPr lvl="1"/>
            <a:r>
              <a:t>Pipeline: lint → test → build → deploy (staging/production)</a:t>
            </a:r>
          </a:p>
          <a:p>
            <a:pPr lvl="1"/>
            <a:r>
              <a:t>Rust: cross-compile do x86_64, push do ECR</a:t>
            </a:r>
          </a:p>
          <a:p>
            <a:pPr lvl="1"/>
            <a:r>
              <a:t>Desktop: matrix build (macOS/Linux/Windows), upload do S3</a:t>
            </a:r>
          </a:p>
          <a:p>
            <a:pPr lvl="1"/>
            <a:r>
              <a:t>Pulumi: preview na PR, deploy na merge do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Czego się nauczyłem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Technologie sieciowe i VPN</a:t>
            </a:r>
          </a:p>
          <a:p>
            <a:pPr lvl="1"/>
            <a:r>
              <a:t>Protokoły VPN: WireGuard (Noise Protocol), OpenVPN (TLS), IKEv2 (Diffie-Hellman)</a:t>
            </a:r>
          </a:p>
          <a:p>
            <a:pPr lvl="1"/>
            <a:r>
              <a:t>Warstwa sieciowa: interfejsy TUN/TAP, routowanie, NAT/masquerade</a:t>
            </a:r>
          </a:p>
          <a:p>
            <a:pPr lvl="1"/>
            <a:r>
              <a:t>Konfiguracja systemu: iptables, sysctl (ip_forward, rp_filter)</a:t>
            </a:r>
          </a:p>
          <a:p>
            <a:pPr lvl="1"/>
            <a:r>
              <a:t>Porty i protokoły: WireGuard UDP 51820, OpenVPN UDP 1194, IKEv2 UDP 500/4500</a:t>
            </a:r>
          </a:p>
          <a:p>
            <a:pPr lvl="1"/>
            <a:r>
              <a:t>## Architektura chmurowa (AWS)</a:t>
            </a:r>
          </a:p>
          <a:p>
            <a:pPr lvl="1"/>
            <a:r>
              <a:t>Serverless: Lambda cold starts, Docker vs ZIP, API Gateway integracja</a:t>
            </a:r>
          </a:p>
          <a:p>
            <a:pPr lvl="1"/>
            <a:r>
              <a:t>Infrastructure as Code: Pulumi (TypeScript), state management, dependencies</a:t>
            </a:r>
          </a:p>
          <a:p>
            <a:pPr lvl="1"/>
            <a:r>
              <a:t>Networking: VPC, subnets, security groups, Elastic IP allocation</a:t>
            </a:r>
          </a:p>
          <a:p>
            <a:pPr lvl="1"/>
            <a:r>
              <a:t>## Programowanie systemowe (Rust)</a:t>
            </a:r>
          </a:p>
          <a:p>
            <a:pPr lvl="1"/>
            <a:r>
              <a:t>Ownership i borrowing – eliminacja błędów pamięci w compile-time</a:t>
            </a:r>
          </a:p>
          <a:p>
            <a:pPr lvl="1"/>
            <a:r>
              <a:t>Async/await z Tokio – wydajna obsługa tysięcy połączeń</a:t>
            </a:r>
          </a:p>
          <a:p>
            <a:pPr lvl="1"/>
            <a:r>
              <a:t>IPC i komunikacja międzyprocesowa – Unix sockets, privileged operations</a:t>
            </a:r>
          </a:p>
          <a:p>
            <a:pPr lvl="1"/>
            <a:r>
              <a:t>Cross-platform: conditional compilation (#[cfg]), platform-specific code</a:t>
            </a:r>
          </a:p>
          <a:p>
            <a:pPr lvl="1"/>
            <a:r>
              <a:t>## Bezpieczeństwo i prywatność</a:t>
            </a:r>
          </a:p>
          <a:p>
            <a:pPr lvl="1"/>
            <a:r>
              <a:t>Brak logowania ruchu – tylko metryki zagregowane (bez IP użytkowników)</a:t>
            </a:r>
          </a:p>
          <a:p>
            <a:pPr lvl="1"/>
            <a:r>
              <a:t>Zarządzanie sekretami – Pulumi encrypted state, environment variables</a:t>
            </a:r>
          </a:p>
          <a:p>
            <a:pPr lvl="1"/>
            <a:r>
              <a:t>Autentykacja – bearer tokens (VPN nodes), API keys (web app), OAuth (users)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 pozostało do implementacji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✅ Zrealizowane (produkcja)</a:t>
            </a:r>
          </a:p>
          <a:p>
            <a:pPr lvl="1"/>
            <a:r>
              <a:t>[x] Stripe webhooks i Customer Portal (produkcja)</a:t>
            </a:r>
          </a:p>
          <a:p>
            <a:pPr lvl="1"/>
            <a:r>
              <a:t>[x] Domena email z weryfikacją SPF/DKIM (Resend)</a:t>
            </a:r>
          </a:p>
          <a:p>
            <a:pPr lvl="1"/>
            <a:r>
              <a:t>[x] Certyfikaty SSL dla custom domains (ACM + CloudFront)</a:t>
            </a:r>
          </a:p>
          <a:p>
            <a:pPr lvl="1"/>
            <a:r>
              <a:t>[x] Wdrożenie VPN na 10 regionów AWS z Elastic IP</a:t>
            </a:r>
          </a:p>
          <a:p>
            <a:pPr lvl="1"/>
            <a:r>
              <a:t>## 🔲 Testowanie</a:t>
            </a:r>
          </a:p>
          <a:p>
            <a:pPr lvl="1"/>
            <a:r>
              <a:t>[ ] Test end-to-end na produkcji: signup → payment → device → VPN connection</a:t>
            </a:r>
          </a:p>
          <a:p>
            <a:pPr lvl="1"/>
            <a:r>
              <a:t>[ ] Testy obciążeniowe: symulacja 1000+ jednoczesnych połączeń</a:t>
            </a:r>
          </a:p>
          <a:p>
            <a:pPr lvl="1"/>
            <a:r>
              <a:t>## 🔲 Nowe funkcjonalności</a:t>
            </a:r>
          </a:p>
          <a:p>
            <a:pPr lvl="1"/>
            <a:r>
              <a:t>[ ] Wsparcie proxy (SOCKS5/HTTP) – obejście blokad DPI</a:t>
            </a:r>
          </a:p>
          <a:p>
            <a:pPr lvl="1"/>
            <a:r>
              <a:t>[ ] Wdrażanie węzłów VPN z panelu administratora (integracja z Pulumi)</a:t>
            </a:r>
          </a:p>
          <a:p>
            <a:pPr lvl="1"/>
            <a:r>
              <a:t>[ ] Split tunneling – wybór aplikacji korzystających z VPN</a:t>
            </a:r>
          </a:p>
          <a:p>
            <a:pPr lvl="1"/>
            <a:r>
              <a:t>## 🔲 Dokumentacja pracy dyplomowej</a:t>
            </a:r>
          </a:p>
          <a:p>
            <a:pPr lvl="1"/>
            <a:r>
              <a:t>[ ] Część teoretyczna: protokoły VPN, architektura SaaS, bezpieczeństwo</a:t>
            </a:r>
          </a:p>
          <a:p>
            <a:pPr lvl="1"/>
            <a:r>
              <a:t>[ ] Analiza wymagań funkcjonalnych i niefunkcjonalnych</a:t>
            </a:r>
          </a:p>
          <a:p>
            <a:pPr lvl="1"/>
            <a:r>
              <a:t>[ ] Opis implementacji z diagramami sekwencji</a:t>
            </a:r>
          </a:p>
          <a:p>
            <a:pPr lvl="1"/>
            <a:r>
              <a:t>[ ] Testy, wnioski i kierunki dalszego rozwoju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Podsumowanie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Status realizacji</a:t>
            </a:r>
          </a:p>
          <a:p>
            <a:pPr>
              <a:defRPr sz="1200"/>
            </a:pPr>
            <a:r>
              <a:t>| Obszar                  | Status  | Uwagi                                  |</a:t>
            </a:r>
          </a:p>
          <a:p>
            <a:pPr>
              <a:defRPr sz="1200"/>
            </a:pPr>
            <a:r>
              <a:t>| ----------------------- | ------- | -------------------------------------- |</a:t>
            </a:r>
          </a:p>
          <a:p>
            <a:pPr>
              <a:defRPr sz="1200"/>
            </a:pPr>
            <a:r>
              <a:t>| Frontend SaaS           | ✅ 95%  | Stripe, OAuth, dashboard, admin        |</a:t>
            </a:r>
          </a:p>
          <a:p>
            <a:pPr>
              <a:defRPr sz="1200"/>
            </a:pPr>
            <a:r>
              <a:t>| Control Plane           | ✅ 100% | Wszystkie endpointy, Lambda, Postgres  |</a:t>
            </a:r>
          </a:p>
          <a:p>
            <a:pPr>
              <a:defRPr sz="1200"/>
            </a:pPr>
            <a:r>
              <a:t>| VPN Server              | ✅ 90%  | WireGuard, OpenVPN, IKEv2, 10 regionów |</a:t>
            </a:r>
          </a:p>
          <a:p>
            <a:pPr>
              <a:defRPr sz="1200"/>
            </a:pPr>
            <a:r>
              <a:t>| Desktop Client          | ✅ 85%  | macOS, Linux, Windows, daemon          |</a:t>
            </a:r>
          </a:p>
          <a:p>
            <a:pPr>
              <a:defRPr sz="1200"/>
            </a:pPr>
            <a:r>
              <a:t>| Infrastruktura          | ✅ 100% | Pulumi, CI/CD, multi-region            |</a:t>
            </a:r>
          </a:p>
          <a:p>
            <a:pPr>
              <a:defRPr sz="1200"/>
            </a:pPr>
            <a:r>
              <a:t>| Dokumentacja techniczna | ✅ 100% | API, architektura, runbooki            |</a:t>
            </a:r>
          </a:p>
          <a:p>
            <a:pPr lvl="1"/>
            <a:r>
              <a:t>## Kluczowe osiągnięcia</a:t>
            </a:r>
          </a:p>
          <a:p>
            <a:pPr lvl="1"/>
            <a:r>
              <a:t>**Kompletny system VPN** – od rejestracji użytkownika do połączenia VPN</a:t>
            </a:r>
          </a:p>
          <a:p>
            <a:pPr lvl="1"/>
            <a:r>
              <a:t>**3 protokoły VPN** – WireGuard (szybki), OpenVPN (kompatybilny), IKEv2 (natywny)</a:t>
            </a:r>
          </a:p>
          <a:p>
            <a:pPr lvl="1"/>
            <a:r>
              <a:t>**3 platformy desktop** – macOS, Linux, Windows z natywnym instalatorem</a:t>
            </a:r>
          </a:p>
          <a:p>
            <a:pPr lvl="1"/>
            <a:r>
              <a:t>**10 regionów AWS** – globalna obecność, niskie opóźnienia</a:t>
            </a:r>
          </a:p>
          <a:p>
            <a:pPr lvl="1"/>
            <a:r>
              <a:t>**Privacy-first** – brak logowania ruchu, minimalizacja metadanych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Dziękuję za uwagę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/>
            <a:r>
              <a:t>## Pytania?</a:t>
            </a:r>
          </a:p>
          <a:p>
            <a:pPr>
              <a:defRPr b="1"/>
            </a:pPr>
            <a:r>
              <a:t>Stos technologiczny</a:t>
            </a:r>
          </a:p>
          <a:p>
            <a:pPr>
              <a:defRPr sz="1200"/>
            </a:pPr>
            <a:r>
              <a:t>| Warstwa        | Technologie                                  |</a:t>
            </a:r>
          </a:p>
          <a:p>
            <a:pPr>
              <a:defRPr sz="1200"/>
            </a:pPr>
            <a:r>
              <a:t>| -------------- | -------------------------------------------- |</a:t>
            </a:r>
          </a:p>
          <a:p>
            <a:pPr>
              <a:defRPr sz="1200"/>
            </a:pPr>
            <a:r>
              <a:t>| **Frontend**   | Next.js 15, TypeScript, Prisma, Stripe, tRPC |</a:t>
            </a:r>
          </a:p>
          <a:p>
            <a:pPr>
              <a:defRPr sz="1200"/>
            </a:pPr>
            <a:r>
              <a:t>| **Backend**    | Bun, Fastify, AWS Lambda, PostgreSQL/Neon    |</a:t>
            </a:r>
          </a:p>
          <a:p>
            <a:pPr>
              <a:defRPr sz="1200"/>
            </a:pPr>
            <a:r>
              <a:t>| **VPN Server** | Rust, Tokio, Axum, WireGuard, OpenVPN, IKEv2 |</a:t>
            </a:r>
          </a:p>
          <a:p>
            <a:pPr>
              <a:defRPr sz="1200"/>
            </a:pPr>
            <a:r>
              <a:t>| **Desktop**    | Tauri, React, Vite, Rust Daemon              |</a:t>
            </a:r>
          </a:p>
          <a:p>
            <a:pPr>
              <a:defRPr sz="1200"/>
            </a:pPr>
            <a:r>
              <a:t>| **Infra**      | Pulumi, AWS (Lambda, EC2, ECR, S3), Docker   |</a:t>
            </a:r>
          </a:p>
          <a:p>
            <a:pPr>
              <a:defRPr sz="1200"/>
            </a:pPr>
            <a:r>
              <a:t>| **CI/CD**      | GitHub Actions, cross-platform builds       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